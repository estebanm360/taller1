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3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C10FF-28B9-4A63-99BA-B6CC6F6641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Cambios en la economía global (Pre vs. Post COVID-19)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E3DEB1-BF8D-4D5B-B438-2D239D928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Esteban Mora – </a:t>
            </a:r>
            <a:r>
              <a:rPr lang="es-CO" dirty="0" err="1"/>
              <a:t>Simon</a:t>
            </a:r>
            <a:r>
              <a:rPr lang="es-CO" dirty="0"/>
              <a:t> Triviño</a:t>
            </a:r>
          </a:p>
        </p:txBody>
      </p:sp>
    </p:spTree>
    <p:extLst>
      <p:ext uri="{BB962C8B-B14F-4D97-AF65-F5344CB8AC3E}">
        <p14:creationId xmlns:p14="http://schemas.microsoft.com/office/powerpoint/2010/main" val="331116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A8F27-F26E-49E7-AF17-0B0754F8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Motivación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8C7883-48A0-489F-8AEF-274C34322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El objetivo principal es construir un índice financiero que permita representar y comprender el comportamiento de la economía real antes y después del impacto de la pandemia del COVID-19. </a:t>
            </a:r>
          </a:p>
          <a:p>
            <a:r>
              <a:rPr lang="es-MX" dirty="0"/>
              <a:t>¿Por qué se escogieron estos activos? Se seleccionaron 10 acciones representativas de mercados de Estados Unidos y Europa (como el S&amp;P 500, LSE y Euronext París) para abarcar el periodo de 2015 a 2025. </a:t>
            </a:r>
          </a:p>
        </p:txBody>
      </p:sp>
    </p:spTree>
    <p:extLst>
      <p:ext uri="{BB962C8B-B14F-4D97-AF65-F5344CB8AC3E}">
        <p14:creationId xmlns:p14="http://schemas.microsoft.com/office/powerpoint/2010/main" val="2576100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1D037-AE7B-4366-90D0-7E76DAC8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Composición del 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DC940F-FB80-41B5-86D7-9FF71100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Energía: Incluye empresas petroleras y energéticas integradas, abarcando petróleo, gas natural y la transición a energías renovables.  Ejemplos: ExxonMobil, </a:t>
            </a:r>
            <a:r>
              <a:rPr lang="es-MX" dirty="0" err="1"/>
              <a:t>Chevron</a:t>
            </a:r>
            <a:r>
              <a:rPr lang="es-MX" dirty="0"/>
              <a:t>, BP, </a:t>
            </a:r>
            <a:r>
              <a:rPr lang="es-MX" dirty="0" err="1"/>
              <a:t>TotalEnergies</a:t>
            </a:r>
            <a:r>
              <a:rPr lang="es-MX" dirty="0"/>
              <a:t>.</a:t>
            </a:r>
          </a:p>
          <a:p>
            <a:r>
              <a:rPr lang="es-MX" dirty="0"/>
              <a:t>Materiales: Compuesto por empresas enfocadas en materias primas e insumos industriales, como gases industriales, oro y cobre.   Ejemplos: Linde, Air </a:t>
            </a:r>
            <a:r>
              <a:rPr lang="es-MX" dirty="0" err="1"/>
              <a:t>Products</a:t>
            </a:r>
            <a:r>
              <a:rPr lang="es-MX" dirty="0"/>
              <a:t>, </a:t>
            </a:r>
            <a:r>
              <a:rPr lang="es-MX" dirty="0" err="1"/>
              <a:t>Newmont</a:t>
            </a:r>
            <a:r>
              <a:rPr lang="es-MX" dirty="0"/>
              <a:t>, Freeport-</a:t>
            </a:r>
            <a:r>
              <a:rPr lang="es-MX" dirty="0" err="1"/>
              <a:t>McMoRan</a:t>
            </a:r>
            <a:r>
              <a:rPr lang="es-MX" dirty="0"/>
              <a:t>. </a:t>
            </a:r>
          </a:p>
          <a:p>
            <a:r>
              <a:rPr lang="es-MX" dirty="0"/>
              <a:t>Financiero: Integrado por grandes bancos dedicados a la banca comercial, de inversión y gestión de activos.  Ejemplos: JPMorgan Chase, Bank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America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23861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CF25F-107E-47F0-AFED-305B7CBF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Graficas y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EC701-68CB-4A81-8C07-CC0A3621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274" y="194741"/>
            <a:ext cx="7796540" cy="3997828"/>
          </a:xfrm>
        </p:spPr>
        <p:txBody>
          <a:bodyPr/>
          <a:lstStyle/>
          <a:p>
            <a:r>
              <a:rPr lang="es-MX" dirty="0"/>
              <a:t>Se utilizaron para visualizar los retornos diarios ponderados gráficos de cajas bigotes para cada índice, permitiendo identificar la distribución y los valores atípicos.</a:t>
            </a:r>
            <a:endParaRPr lang="es-CO" dirty="0"/>
          </a:p>
        </p:txBody>
      </p:sp>
      <p:pic>
        <p:nvPicPr>
          <p:cNvPr id="4" name="Image 2" descr="Picture">
            <a:extLst>
              <a:ext uri="{FF2B5EF4-FFF2-40B4-BE49-F238E27FC236}">
                <a16:creationId xmlns:a16="http://schemas.microsoft.com/office/drawing/2014/main" id="{00000000-0008-0000-0600-0000030000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876" y="2849544"/>
            <a:ext cx="8905874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7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AA26B-B963-4C72-9C96-E2F9C824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Graficas y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037BCB-3E9A-402C-A423-EBCDC40A0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899" y="166166"/>
            <a:ext cx="7796540" cy="3997828"/>
          </a:xfrm>
        </p:spPr>
        <p:txBody>
          <a:bodyPr/>
          <a:lstStyle/>
          <a:p>
            <a:r>
              <a:rPr lang="es-MX" dirty="0"/>
              <a:t>Se elaboraron histogramas para analizar la forma y dispersión de los retornos diarios ponderados frente a una curva normal de referencia.</a:t>
            </a:r>
            <a:endParaRPr lang="es-CO" dirty="0"/>
          </a:p>
        </p:txBody>
      </p:sp>
      <p:pic>
        <p:nvPicPr>
          <p:cNvPr id="4" name="Image 3" descr="Picture">
            <a:extLst>
              <a:ext uri="{FF2B5EF4-FFF2-40B4-BE49-F238E27FC236}">
                <a16:creationId xmlns:a16="http://schemas.microsoft.com/office/drawing/2014/main" id="{00000000-0008-0000-0600-0000040000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0481" y="3116580"/>
            <a:ext cx="7429500" cy="282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05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6538F-D145-4A6E-9E47-4F25A014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Graficas y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2E951A-08FD-421E-B837-81E7CC00D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8874" y="575741"/>
            <a:ext cx="7796540" cy="3997828"/>
          </a:xfrm>
        </p:spPr>
        <p:txBody>
          <a:bodyPr/>
          <a:lstStyle/>
          <a:p>
            <a:r>
              <a:rPr lang="es-MX" dirty="0"/>
              <a:t>Se construyó un gráfico de línea con Base 100 desde enero de 2015, utilizando los retornos ponderados acumulados, para observar patrones, estacionalidades y el COVID en marzo de 2020.</a:t>
            </a:r>
            <a:endParaRPr lang="es-CO" dirty="0"/>
          </a:p>
        </p:txBody>
      </p:sp>
      <p:pic>
        <p:nvPicPr>
          <p:cNvPr id="4" name="Image 1" descr="Picture">
            <a:extLst>
              <a:ext uri="{FF2B5EF4-FFF2-40B4-BE49-F238E27FC236}">
                <a16:creationId xmlns:a16="http://schemas.microsoft.com/office/drawing/2014/main" id="{00000000-0008-0000-0600-0000020000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1808" y="3387756"/>
            <a:ext cx="6227392" cy="316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028AF-9F10-4903-8297-51726248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AEAA17-6F03-4BFF-AA77-F689ABE86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Los gráficos de barras demuestran una evidencia clara de un cambio estructural en los mercados antes y después del COVID-19. </a:t>
            </a:r>
          </a:p>
          <a:p>
            <a:r>
              <a:rPr lang="es-MX" dirty="0"/>
              <a:t>Los intervalos de confianza al 95% de los retornos medios no se solapan entre los periodos pre y post pandemia, lo que indica que el cambio en las medias es estadísticamente significativo.</a:t>
            </a:r>
          </a:p>
          <a:p>
            <a:r>
              <a:rPr lang="es-MX" dirty="0"/>
              <a:t>La desviación estándar es notablemente mayor en el periodo post-COVID, evidenciando un aumento en la volatilidad de los mercados tras la crisis.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109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04B19-A642-45C8-9BD6-A2757601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por sector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01E934-51F0-4C4F-80D4-A72C74FBD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Sector Energía: Experimentó un choque severo debido al colapso de los precios del petróleo en 2020, llegando a registrar precios negativos, y su recuperación posterior fue la más lenta de los tres sectores. </a:t>
            </a:r>
          </a:p>
          <a:p>
            <a:r>
              <a:rPr lang="es-MX" dirty="0"/>
              <a:t>Sector Materiales: Demostró ser el sector con mayor resiliencia frente a la crisis, impulsado fuertemente por la alta demanda de metales, destacando el cobre durante el año 2021.</a:t>
            </a:r>
          </a:p>
          <a:p>
            <a:r>
              <a:rPr lang="es-MX" dirty="0"/>
              <a:t>Sector Financiero: Sufrió impactos negativos en 2020 asociados al riesgo de crédito, pero logró una fuerte y sólida recuperación impulsada posteriormente por la subida de las tasas de interés.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1411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{47BF47FC-BC89-45D0-B959-E9FF1AF16D39}TF37254b02-f5b5-44b0-803d-e6af9466a0244d147964-33a7cc9fa501</Template>
  <TotalTime>23</TotalTime>
  <Words>458</Words>
  <Application>Microsoft Office PowerPoint</Application>
  <PresentationFormat>Panorámica</PresentationFormat>
  <Paragraphs>23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Madison</vt:lpstr>
      <vt:lpstr>Cambios en la economía global (Pre vs. Post COVID-19)</vt:lpstr>
      <vt:lpstr>Motivación</vt:lpstr>
      <vt:lpstr>Composición del índice</vt:lpstr>
      <vt:lpstr>Graficas y resultados</vt:lpstr>
      <vt:lpstr>Graficas y resultados</vt:lpstr>
      <vt:lpstr>Graficas y resultados</vt:lpstr>
      <vt:lpstr>Resultados</vt:lpstr>
      <vt:lpstr>Resultados por sector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Cambios en la economía global (Pre vs. Post COVID-19)</dc:title>
  <dc:creator>saranat1502@gmail.com</dc:creator>
  <cp:lastModifiedBy>Esteban Mora</cp:lastModifiedBy>
  <cp:revision>4</cp:revision>
  <dcterms:created xsi:type="dcterms:W3CDTF">2026-04-06T18:56:59Z</dcterms:created>
  <dcterms:modified xsi:type="dcterms:W3CDTF">2026-04-06T19:46:07Z</dcterms:modified>
</cp:coreProperties>
</file>